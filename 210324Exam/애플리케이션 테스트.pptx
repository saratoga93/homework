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78" y="-73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0374" y="0"/>
            <a:ext cx="2293626" cy="6858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3581400"/>
            <a:ext cx="3962400" cy="2133600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2438400" y="1447800"/>
            <a:ext cx="3962400" cy="2133600"/>
          </a:xfrm>
        </p:spPr>
        <p:txBody>
          <a:bodyPr anchor="b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>
          <a:xfrm>
            <a:off x="3582988" y="6426201"/>
            <a:ext cx="2819399" cy="126999"/>
          </a:xfrm>
        </p:spPr>
        <p:txBody>
          <a:bodyPr/>
          <a:lstStyle/>
          <a:p>
            <a:fld id="{4CE4C117-CF3C-4FE0-B09A-16DCD8B4B78E}" type="datetimeFigureOut">
              <a:rPr lang="ko-KR" altLang="en-US" smtClean="0"/>
              <a:t>2021-03-24</a:t>
            </a:fld>
            <a:endParaRPr lang="ko-KR" alt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>
          <a:xfrm>
            <a:off x="6414976" y="6400800"/>
            <a:ext cx="457200" cy="152400"/>
          </a:xfrm>
        </p:spPr>
        <p:txBody>
          <a:bodyPr/>
          <a:lstStyle>
            <a:lvl1pPr algn="r">
              <a:defRPr/>
            </a:lvl1pPr>
          </a:lstStyle>
          <a:p>
            <a:fld id="{BDFE8408-7693-4F64-9B0C-D79D99C3DA3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>
          <a:xfrm>
            <a:off x="3581400" y="6296248"/>
            <a:ext cx="2820987" cy="152400"/>
          </a:xfrm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3657600" cy="5714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4C117-CF3C-4FE0-B09A-16DCD8B4B78E}" type="datetimeFigureOut">
              <a:rPr lang="ko-KR" altLang="en-US" smtClean="0"/>
              <a:t>2021-03-24</a:t>
            </a:fld>
            <a:endParaRPr lang="ko-KR" alt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DFE8408-7693-4F64-9B0C-D79D99C3DA3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8000" y="0"/>
            <a:ext cx="2293626" cy="6858000"/>
          </a:xfrm>
          <a:prstGeom prst="rect">
            <a:avLst/>
          </a:prstGeom>
        </p:spPr>
      </p:pic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9788" y="6426201"/>
            <a:ext cx="2819399" cy="126999"/>
          </a:xfrm>
        </p:spPr>
        <p:txBody>
          <a:bodyPr/>
          <a:lstStyle/>
          <a:p>
            <a:fld id="{4CE4C117-CF3C-4FE0-B09A-16DCD8B4B78E}" type="datetimeFigureOut">
              <a:rPr lang="ko-KR" altLang="en-US" smtClean="0"/>
              <a:t>2021-03-24</a:t>
            </a:fld>
            <a:endParaRPr lang="ko-KR" alt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4116388" y="6400800"/>
            <a:ext cx="533400" cy="152400"/>
          </a:xfrm>
        </p:spPr>
        <p:txBody>
          <a:bodyPr/>
          <a:lstStyle/>
          <a:p>
            <a:fld id="{BDFE8408-7693-4F64-9B0C-D79D99C3DA3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838200" y="6296248"/>
            <a:ext cx="2820987" cy="1524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457200" y="1828800"/>
            <a:ext cx="3200400" cy="1752600"/>
          </a:xfrm>
        </p:spPr>
        <p:txBody>
          <a:bodyPr anchor="b"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3578224"/>
            <a:ext cx="3200645" cy="1459767"/>
          </a:xfrm>
        </p:spPr>
        <p:txBody>
          <a:bodyPr anchor="t">
            <a:norm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None/>
              <a:defRPr lang="en-US" sz="1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3429000"/>
            <a:ext cx="31242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457200"/>
            <a:ext cx="31242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499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4C117-CF3C-4FE0-B09A-16DCD8B4B78E}" type="datetimeFigureOut">
              <a:rPr lang="ko-KR" altLang="en-US" smtClean="0"/>
              <a:t>2021-03-24</a:t>
            </a:fld>
            <a:endParaRPr lang="ko-KR" alt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DFE8408-7693-4F64-9B0C-D79D99C3DA3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75238"/>
            <a:ext cx="35814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675288"/>
            <a:ext cx="3581400" cy="2525112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 baseline="0"/>
            </a:lvl4pPr>
            <a:lvl5pPr>
              <a:buFont typeface="Wingdings" pitchFamily="2" charset="2"/>
              <a:buChar char="§"/>
              <a:defRPr sz="1400"/>
            </a:lvl5pPr>
            <a:lvl6pPr>
              <a:buFont typeface="Wingdings" pitchFamily="2" charset="2"/>
              <a:buChar char="§"/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199" y="3429000"/>
            <a:ext cx="35814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199" y="3840162"/>
            <a:ext cx="3581400" cy="2515198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 smtClean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499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4C117-CF3C-4FE0-B09A-16DCD8B4B78E}" type="datetimeFigureOut">
              <a:rPr lang="ko-KR" altLang="en-US" smtClean="0"/>
              <a:t>2021-03-24</a:t>
            </a:fld>
            <a:endParaRPr lang="ko-KR" alt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DFE8408-7693-4F64-9B0C-D79D99C3DA3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3800" y="457200"/>
            <a:ext cx="3962400" cy="571500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4C117-CF3C-4FE0-B09A-16DCD8B4B78E}" type="datetimeFigureOut">
              <a:rPr lang="ko-KR" altLang="en-US" smtClean="0"/>
              <a:t>2021-03-24</a:t>
            </a:fld>
            <a:endParaRPr lang="ko-KR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DFE8408-7693-4F64-9B0C-D79D99C3DA3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4C117-CF3C-4FE0-B09A-16DCD8B4B78E}" type="datetimeFigureOut">
              <a:rPr lang="ko-KR" altLang="en-US" smtClean="0"/>
              <a:t>2021-03-24</a:t>
            </a:fld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DFE8408-7693-4F64-9B0C-D79D99C3DA3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1600" y="1676400"/>
            <a:ext cx="2514600" cy="1874837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76400"/>
            <a:ext cx="4700016" cy="3505200"/>
          </a:xfrm>
        </p:spPr>
        <p:txBody>
          <a:bodyPr>
            <a:normAutofit/>
          </a:bodyPr>
          <a:lstStyle>
            <a:lvl1pPr marL="228600" indent="-182880"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 smtClean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0" y="3552372"/>
            <a:ext cx="22098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4C117-CF3C-4FE0-B09A-16DCD8B4B78E}" type="datetimeFigureOut">
              <a:rPr lang="ko-KR" altLang="en-US" smtClean="0"/>
              <a:t>2021-03-24</a:t>
            </a:fld>
            <a:endParaRPr lang="ko-KR" alt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DFE8408-7693-4F64-9B0C-D79D99C3DA3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676400"/>
            <a:ext cx="4696967" cy="3505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181600" y="1676400"/>
            <a:ext cx="2514600" cy="1875972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0" y="3552372"/>
            <a:ext cx="22098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4C117-CF3C-4FE0-B09A-16DCD8B4B78E}" type="datetimeFigureOut">
              <a:rPr lang="ko-KR" altLang="en-US" smtClean="0"/>
              <a:t>2021-03-24</a:t>
            </a:fld>
            <a:endParaRPr lang="ko-KR" altLang="en-US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DFE8408-7693-4F64-9B0C-D79D99C3DA3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4C117-CF3C-4FE0-B09A-16DCD8B4B78E}" type="datetimeFigureOut">
              <a:rPr lang="ko-KR" altLang="en-US" smtClean="0"/>
              <a:t>2021-03-24</a:t>
            </a:fld>
            <a:endParaRPr lang="ko-KR" alt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DFE8408-7693-4F64-9B0C-D79D99C3DA3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4C117-CF3C-4FE0-B09A-16DCD8B4B78E}" type="datetimeFigureOut">
              <a:rPr lang="ko-KR" altLang="en-US" smtClean="0"/>
              <a:t>2021-03-24</a:t>
            </a:fld>
            <a:endParaRPr lang="ko-KR" alt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DFE8408-7693-4F64-9B0C-D79D99C3DA3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phere2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8823693" y="0"/>
            <a:ext cx="320307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3657600" cy="5714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7772400" y="6400800"/>
            <a:ext cx="533400" cy="152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DFE8408-7693-4F64-9B0C-D79D99C3DA3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2"/>
          </p:nvPr>
        </p:nvSpPr>
        <p:spPr>
          <a:xfrm>
            <a:off x="4876801" y="6426201"/>
            <a:ext cx="2819399" cy="12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CE4C117-CF3C-4FE0-B09A-16DCD8B4B78E}" type="datetimeFigureOut">
              <a:rPr lang="ko-KR" altLang="en-US" smtClean="0"/>
              <a:t>2021-03-24</a:t>
            </a:fld>
            <a:endParaRPr lang="ko-KR" alt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875213" y="6296248"/>
            <a:ext cx="2820987" cy="1524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iming>
    <p:tnLst>
      <p:par>
        <p:cTn id="1" dur="indefinite" restart="never" nodeType="tmRoot"/>
      </p:par>
    </p:tnLst>
  </p:timing>
  <p:txStyles>
    <p:titleStyle>
      <a:lvl1pPr algn="r" defTabSz="914400" rtl="0" eaLnBrk="1" latinLnBrk="1" hangingPunct="1">
        <a:spcBef>
          <a:spcPct val="0"/>
        </a:spcBef>
        <a:buNone/>
        <a:defRPr sz="2800" kern="1200">
          <a:gradFill>
            <a:gsLst>
              <a:gs pos="0">
                <a:schemeClr val="tx1">
                  <a:lumMod val="50000"/>
                </a:schemeClr>
              </a:gs>
              <a:gs pos="61000">
                <a:schemeClr val="tx1"/>
              </a:gs>
            </a:gsLst>
            <a:lin ang="5400000" scaled="0"/>
          </a:gradFill>
          <a:effectLst/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1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1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594360" indent="-182880" algn="l" defTabSz="914400" rtl="0" eaLnBrk="1" latinLnBrk="1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777240" indent="-182880" algn="l" defTabSz="914400" rtl="0" eaLnBrk="1" latinLnBrk="1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960120" indent="-182880" algn="l" defTabSz="914400" rtl="0" eaLnBrk="1" latinLnBrk="1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143000" indent="-182880" algn="l" defTabSz="914400" rtl="0" eaLnBrk="1" latinLnBrk="1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325880" indent="-182880" algn="l" defTabSz="914400" rtl="0" eaLnBrk="1" latinLnBrk="1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508760" indent="-182880" algn="l" defTabSz="914400" rtl="0" eaLnBrk="1" latinLnBrk="1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691640" indent="-182880" algn="l" defTabSz="914400" rtl="0" eaLnBrk="1" latinLnBrk="1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/>
              <a:t>경북산업 직업전문학교</a:t>
            </a:r>
            <a:endParaRPr lang="en-US" altLang="ko-KR" dirty="0" smtClean="0"/>
          </a:p>
          <a:p>
            <a:r>
              <a:rPr lang="ko-KR" altLang="en-US" dirty="0" smtClean="0"/>
              <a:t>통합응용 </a:t>
            </a:r>
            <a:r>
              <a:rPr lang="en-US" altLang="ko-KR" dirty="0" smtClean="0"/>
              <a:t>SW </a:t>
            </a:r>
            <a:r>
              <a:rPr lang="ko-KR" altLang="en-US" dirty="0" smtClean="0"/>
              <a:t>개발자</a:t>
            </a:r>
            <a:r>
              <a:rPr lang="en-US" altLang="ko-KR" dirty="0" smtClean="0"/>
              <a:t>(C#, JAVA)</a:t>
            </a:r>
          </a:p>
          <a:p>
            <a:r>
              <a:rPr lang="ko-KR" altLang="en-US" dirty="0" smtClean="0"/>
              <a:t>강병</a:t>
            </a:r>
            <a:r>
              <a:rPr lang="ko-KR" altLang="en-US" dirty="0"/>
              <a:t>수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애플리케이션 테스트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	</a:t>
            </a:r>
            <a:r>
              <a:rPr lang="ko-KR" altLang="en-US" dirty="0" smtClean="0"/>
              <a:t>수행 평가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32295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1520" y="620688"/>
            <a:ext cx="2648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정적 분석 도구를 적용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87857" y="5481636"/>
            <a:ext cx="79717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솔루션 탐색기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참조에서 </a:t>
            </a:r>
            <a:r>
              <a:rPr lang="en-US" altLang="ko-KR" dirty="0" err="1" smtClean="0"/>
              <a:t>NuGet</a:t>
            </a:r>
            <a:r>
              <a:rPr lang="en-US" altLang="ko-KR" dirty="0" smtClean="0"/>
              <a:t> </a:t>
            </a:r>
            <a:r>
              <a:rPr lang="ko-KR" altLang="en-US" dirty="0" smtClean="0"/>
              <a:t>패키지 관리</a:t>
            </a:r>
            <a:r>
              <a:rPr lang="en-US" altLang="ko-KR" dirty="0"/>
              <a:t> </a:t>
            </a:r>
            <a:r>
              <a:rPr lang="ko-KR" altLang="en-US" dirty="0" smtClean="0"/>
              <a:t>선택</a:t>
            </a:r>
            <a:r>
              <a:rPr lang="en-US" altLang="ko-KR" dirty="0" smtClean="0"/>
              <a:t>-&gt; </a:t>
            </a:r>
            <a:r>
              <a:rPr lang="en-US" altLang="ko-KR" dirty="0" err="1" smtClean="0"/>
              <a:t>SonarAnalyzer</a:t>
            </a:r>
            <a:r>
              <a:rPr lang="en-US" altLang="ko-KR" dirty="0" smtClean="0"/>
              <a:t>(</a:t>
            </a:r>
            <a:r>
              <a:rPr lang="ko-KR" altLang="en-US" dirty="0" smtClean="0"/>
              <a:t>분석 도구</a:t>
            </a:r>
            <a:r>
              <a:rPr lang="en-US" altLang="ko-KR" dirty="0" smtClean="0"/>
              <a:t>)</a:t>
            </a:r>
          </a:p>
          <a:p>
            <a:r>
              <a:rPr lang="en-US" altLang="ko-KR" dirty="0" smtClean="0"/>
              <a:t>  </a:t>
            </a:r>
            <a:r>
              <a:rPr lang="ko-KR" altLang="en-US" dirty="0" smtClean="0"/>
              <a:t>검색하여 설치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124744"/>
            <a:ext cx="7236296" cy="409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418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2121" y="288611"/>
            <a:ext cx="6664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정적 분석 도구를 사용하여 코드 </a:t>
            </a:r>
            <a:r>
              <a:rPr lang="ko-KR" altLang="en-US" dirty="0" err="1" smtClean="0"/>
              <a:t>인스펙션</a:t>
            </a:r>
            <a:r>
              <a:rPr lang="ko-KR" altLang="en-US" dirty="0" smtClean="0"/>
              <a:t> 수행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오류들을 확보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121" y="757914"/>
            <a:ext cx="5762464" cy="25542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5933" y="3440842"/>
            <a:ext cx="3462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 smtClean="0"/>
              <a:t>빌드</a:t>
            </a:r>
            <a:r>
              <a:rPr lang="ko-KR" altLang="en-US" dirty="0" smtClean="0"/>
              <a:t>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솔루션 다시 </a:t>
            </a:r>
            <a:r>
              <a:rPr lang="ko-KR" altLang="en-US" dirty="0" err="1" smtClean="0"/>
              <a:t>빌드</a:t>
            </a:r>
            <a:r>
              <a:rPr lang="ko-KR" altLang="en-US" dirty="0" smtClean="0"/>
              <a:t> 선택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111" y="3933056"/>
            <a:ext cx="7452320" cy="2091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5933" y="6111967"/>
            <a:ext cx="7465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분석 도구가 설치되어 있는 경우 다음과 같은 오류나 경고 문구가 출력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5110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528" y="620688"/>
            <a:ext cx="4370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발견한 결함들에 대한 해결 방법을 적용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29053"/>
              </p:ext>
            </p:extLst>
          </p:nvPr>
        </p:nvGraphicFramePr>
        <p:xfrm>
          <a:off x="107504" y="1340768"/>
          <a:ext cx="8496945" cy="47446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2315"/>
                <a:gridCol w="2832315"/>
                <a:gridCol w="2832315"/>
              </a:tblGrid>
              <a:tr h="8088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4000" dirty="0" smtClean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오류 코드</a:t>
                      </a:r>
                      <a:endParaRPr lang="ko-KR" altLang="en-US" sz="4000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4000" dirty="0" smtClean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오류 내용</a:t>
                      </a:r>
                      <a:endParaRPr lang="ko-KR" altLang="en-US" sz="4000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4000" dirty="0" smtClean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해결 방법</a:t>
                      </a:r>
                      <a:endParaRPr lang="ko-KR" altLang="en-US" sz="4000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/>
                </a:tc>
              </a:tr>
              <a:tr h="7023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Warning</a:t>
                      </a:r>
                      <a:r>
                        <a:rPr lang="en-US" altLang="ko-KR" baseline="0" dirty="0" smtClean="0"/>
                        <a:t> S125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Remove this commented out code.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대부분 주석 코드를</a:t>
                      </a:r>
                      <a:r>
                        <a:rPr lang="ko-KR" altLang="en-US" baseline="0" dirty="0" smtClean="0"/>
                        <a:t> 삭제하라는 내용이므로 주석 삭제</a:t>
                      </a:r>
                      <a:r>
                        <a:rPr lang="en-US" altLang="ko-KR" baseline="0" dirty="0" smtClean="0"/>
                        <a:t>.</a:t>
                      </a:r>
                      <a:endParaRPr lang="ko-KR" altLang="en-US" dirty="0"/>
                    </a:p>
                  </a:txBody>
                  <a:tcPr/>
                </a:tc>
              </a:tr>
              <a:tr h="7023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Warning S2292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사용하지 않은 변수가 존재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해당 변수를 사용하는 </a:t>
                      </a:r>
                      <a:r>
                        <a:rPr lang="ko-KR" altLang="en-US" dirty="0" err="1" smtClean="0"/>
                        <a:t>로직을</a:t>
                      </a:r>
                      <a:r>
                        <a:rPr lang="ko-KR" altLang="en-US" dirty="0" smtClean="0"/>
                        <a:t> 생성</a:t>
                      </a:r>
                      <a:endParaRPr lang="ko-KR" altLang="en-US" dirty="0"/>
                    </a:p>
                  </a:txBody>
                  <a:tcPr/>
                </a:tc>
              </a:tr>
              <a:tr h="7023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Warning</a:t>
                      </a:r>
                      <a:r>
                        <a:rPr lang="en-US" altLang="ko-KR" baseline="0" dirty="0" smtClean="0"/>
                        <a:t> S1186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해당 함수에 대한 </a:t>
                      </a:r>
                      <a:r>
                        <a:rPr lang="ko-KR" altLang="en-US" dirty="0" err="1" smtClean="0"/>
                        <a:t>로직</a:t>
                      </a:r>
                      <a:r>
                        <a:rPr lang="ko-KR" altLang="en-US" dirty="0" smtClean="0"/>
                        <a:t> 또는 </a:t>
                      </a:r>
                      <a:r>
                        <a:rPr lang="ko-KR" altLang="en-US" dirty="0" err="1" smtClean="0"/>
                        <a:t>출력문이</a:t>
                      </a:r>
                      <a:r>
                        <a:rPr lang="ko-KR" altLang="en-US" dirty="0" smtClean="0"/>
                        <a:t> 존재하지 않음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해당 함수를 제거하거나 놔두어도 무방</a:t>
                      </a:r>
                      <a:endParaRPr lang="ko-KR" altLang="en-US" dirty="0"/>
                    </a:p>
                  </a:txBody>
                  <a:tcPr/>
                </a:tc>
              </a:tr>
              <a:tr h="7023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Warning S2933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Make &lt;</a:t>
                      </a:r>
                      <a:r>
                        <a:rPr lang="ko-KR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객체</a:t>
                      </a:r>
                      <a:r>
                        <a:rPr lang="en-US" altLang="ko-K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r>
                        <a:rPr lang="en-US" altLang="ko-KR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en-US" altLang="ko-KR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readonly</a:t>
                      </a:r>
                      <a:r>
                        <a:rPr lang="en-US" altLang="ko-K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'.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객체나 변수 앞에</a:t>
                      </a:r>
                      <a:r>
                        <a:rPr lang="ko-KR" altLang="en-US" baseline="0" dirty="0" smtClean="0"/>
                        <a:t> </a:t>
                      </a:r>
                      <a:r>
                        <a:rPr lang="en-US" altLang="ko-KR" baseline="0" dirty="0" err="1" smtClean="0"/>
                        <a:t>readonly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ko-KR" altLang="en-US" baseline="0" dirty="0" smtClean="0"/>
                        <a:t>추가</a:t>
                      </a:r>
                      <a:endParaRPr lang="ko-KR" altLang="en-US" dirty="0"/>
                    </a:p>
                  </a:txBody>
                  <a:tcPr/>
                </a:tc>
              </a:tr>
              <a:tr h="7023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Warning S101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클래스의 이름 앞자리가 알파벳 소문자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클래스의 이름 앞자리를 알파벳 대문자로 변경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2989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936378"/>
              </p:ext>
            </p:extLst>
          </p:nvPr>
        </p:nvGraphicFramePr>
        <p:xfrm>
          <a:off x="107504" y="620688"/>
          <a:ext cx="8568952" cy="570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4476"/>
                <a:gridCol w="4284476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테스트 내용</a:t>
                      </a:r>
                      <a:endParaRPr lang="ko-KR" altLang="en-US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테스트 결과</a:t>
                      </a:r>
                      <a:endParaRPr lang="ko-KR" altLang="en-US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홈 화면이 정상적으로 실행되는가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정상적으로 실행됨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주소록 정보 추가 버튼이 정상적으로 작동하는가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정상적으로 화면이 출력됨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주소록 정보 추가</a:t>
                      </a:r>
                      <a:r>
                        <a:rPr lang="ko-KR" altLang="en-US" sz="1400" baseline="0" dirty="0" smtClean="0"/>
                        <a:t> 화면에서 데이터 입력</a:t>
                      </a:r>
                      <a:r>
                        <a:rPr lang="en-US" altLang="ko-KR" sz="1400" baseline="0" dirty="0" smtClean="0"/>
                        <a:t>, </a:t>
                      </a:r>
                      <a:r>
                        <a:rPr lang="ko-KR" altLang="en-US" sz="1400" baseline="0" dirty="0" smtClean="0"/>
                        <a:t>저장이 되는가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정상적으로 데이터가 저장됨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주소록 정보 보기 버튼이 정상적으로 작동하는가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정상적으로 화면이 출력됨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주소록 정보 보기 화면에서 저장된 데이터가 출력되는가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정상적으로 데이터가 출력됨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주소록 랜덤 생성 버튼이 정상적으로 작동하는가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정상적으로 화면이 출력됨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주소록 랜덤 데이터 개수를 입력 후 확인 버튼이 눌러지는가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정상적으로 해당 개수만큼 랜덤 데이터가 생성됨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주소록 정보 수정 버튼이 정상적으로 작동하는가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정상적으로 화면이 출력됨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주소록 정보 삭제 버튼이 정상적으로 작동하는가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정상적으로 화면이 출력됨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주소록 전체 삭제 버튼을 클릭 시 모든 데이터가 삭제되는가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모든 정보가 정상적으로 삭제됨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주소록 정보 수정 화면에서 데이터 입력</a:t>
                      </a:r>
                      <a:r>
                        <a:rPr lang="en-US" altLang="ko-KR" sz="1400" dirty="0" smtClean="0"/>
                        <a:t>,</a:t>
                      </a:r>
                      <a:r>
                        <a:rPr lang="en-US" altLang="ko-KR" sz="1400" baseline="0" dirty="0" smtClean="0"/>
                        <a:t> </a:t>
                      </a:r>
                      <a:r>
                        <a:rPr lang="ko-KR" altLang="en-US" sz="1400" baseline="0" dirty="0" smtClean="0"/>
                        <a:t>데이터가 수정되었는가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정상적으로 해당 이름의 데이터가 수정됨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주소록 정보 삭제 화면에서 이름을 입력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데이터가 삭제되었는가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정상적으로 해당 이름의 데이터가 삭제됨</a:t>
                      </a:r>
                      <a:endParaRPr lang="ko-KR" altLang="en-US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7504" y="188640"/>
            <a:ext cx="3390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4. Black Box </a:t>
            </a:r>
            <a:r>
              <a:rPr lang="ko-KR" altLang="en-US" dirty="0" smtClean="0"/>
              <a:t>테스트</a:t>
            </a:r>
            <a:r>
              <a:rPr lang="en-US" altLang="ko-KR" dirty="0" smtClean="0"/>
              <a:t>(</a:t>
            </a:r>
            <a:r>
              <a:rPr lang="ko-KR" altLang="en-US" dirty="0" smtClean="0"/>
              <a:t>동적 테스트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6542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528" y="548680"/>
            <a:ext cx="4370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5. </a:t>
            </a:r>
            <a:r>
              <a:rPr lang="ko-KR" altLang="en-US" dirty="0" smtClean="0"/>
              <a:t>발견한 결함에 대해서 해결 방법을 적용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686" y="1268760"/>
            <a:ext cx="3816424" cy="96793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5" y="1268760"/>
            <a:ext cx="4372989" cy="967934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686" y="3212976"/>
            <a:ext cx="6697010" cy="1619476"/>
          </a:xfrm>
          <a:prstGeom prst="rect">
            <a:avLst/>
          </a:prstGeom>
        </p:spPr>
      </p:pic>
      <p:sp>
        <p:nvSpPr>
          <p:cNvPr id="11" name="오른쪽 화살표 10"/>
          <p:cNvSpPr/>
          <p:nvPr/>
        </p:nvSpPr>
        <p:spPr>
          <a:xfrm>
            <a:off x="4003194" y="1654759"/>
            <a:ext cx="355865" cy="1959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183686" y="2524254"/>
            <a:ext cx="8561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주석 코드로 인한 경고 문구</a:t>
            </a:r>
            <a:r>
              <a:rPr lang="en-US" altLang="ko-KR" dirty="0" smtClean="0"/>
              <a:t>: </a:t>
            </a:r>
            <a:r>
              <a:rPr lang="ko-KR" altLang="en-US" dirty="0" smtClean="0"/>
              <a:t>설명이 필요한 주석을 제외한 모든 주석을 제거한다</a:t>
            </a:r>
            <a:r>
              <a:rPr lang="en-US" altLang="ko-KR" dirty="0" smtClean="0"/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3686" y="5163287"/>
            <a:ext cx="8573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해당 결함은 </a:t>
            </a:r>
            <a:r>
              <a:rPr lang="en-US" altLang="ko-KR" dirty="0" smtClean="0"/>
              <a:t>Visual Studio</a:t>
            </a:r>
            <a:r>
              <a:rPr lang="ko-KR" altLang="en-US" dirty="0" smtClean="0"/>
              <a:t>에서 공식적으로 지원하는 캡슐화 기능에서 나온 결함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399060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692696"/>
            <a:ext cx="4608512" cy="184658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96" y="3284984"/>
            <a:ext cx="4608512" cy="1971912"/>
          </a:xfrm>
          <a:prstGeom prst="rect">
            <a:avLst/>
          </a:prstGeom>
        </p:spPr>
      </p:pic>
      <p:sp>
        <p:nvSpPr>
          <p:cNvPr id="6" name="아래쪽 화살표 5"/>
          <p:cNvSpPr/>
          <p:nvPr/>
        </p:nvSpPr>
        <p:spPr>
          <a:xfrm>
            <a:off x="2668782" y="2683301"/>
            <a:ext cx="360040" cy="5041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79512" y="5610417"/>
            <a:ext cx="793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클래스 </a:t>
            </a:r>
            <a:r>
              <a:rPr lang="ko-KR" altLang="en-US" dirty="0" err="1" smtClean="0"/>
              <a:t>네이밍에</a:t>
            </a:r>
            <a:r>
              <a:rPr lang="ko-KR" altLang="en-US" dirty="0" smtClean="0"/>
              <a:t> 대한 결함</a:t>
            </a:r>
            <a:r>
              <a:rPr lang="en-US" altLang="ko-KR" dirty="0" smtClean="0"/>
              <a:t>: </a:t>
            </a:r>
            <a:r>
              <a:rPr lang="ko-KR" altLang="en-US" dirty="0" smtClean="0"/>
              <a:t>해당 클래스의 </a:t>
            </a:r>
            <a:r>
              <a:rPr lang="ko-KR" altLang="en-US" dirty="0" err="1"/>
              <a:t>첫</a:t>
            </a:r>
            <a:r>
              <a:rPr lang="ko-KR" altLang="en-US" dirty="0" err="1" smtClean="0"/>
              <a:t>글자를</a:t>
            </a:r>
            <a:r>
              <a:rPr lang="ko-KR" altLang="en-US" dirty="0" smtClean="0"/>
              <a:t> 알파벳 대문자로 변경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4638402"/>
      </p:ext>
    </p:extLst>
  </p:cSld>
  <p:clrMapOvr>
    <a:masterClrMapping/>
  </p:clrMapOvr>
</p:sld>
</file>

<file path=ppt/theme/theme1.xml><?xml version="1.0" encoding="utf-8"?>
<a:theme xmlns:a="http://schemas.openxmlformats.org/drawingml/2006/main" name="복합">
  <a:themeElements>
    <a:clrScheme name="복합">
      <a:dk1>
        <a:sysClr val="windowText" lastClr="000000"/>
      </a:dk1>
      <a:lt1>
        <a:sysClr val="window" lastClr="FFFFFF"/>
      </a:lt1>
      <a:dk2>
        <a:srgbClr val="5B6973"/>
      </a:dk2>
      <a:lt2>
        <a:srgbClr val="E7ECED"/>
      </a:lt2>
      <a:accent1>
        <a:srgbClr val="98C723"/>
      </a:accent1>
      <a:accent2>
        <a:srgbClr val="59B0B9"/>
      </a:accent2>
      <a:accent3>
        <a:srgbClr val="DEAE00"/>
      </a:accent3>
      <a:accent4>
        <a:srgbClr val="B77BB4"/>
      </a:accent4>
      <a:accent5>
        <a:srgbClr val="E0773C"/>
      </a:accent5>
      <a:accent6>
        <a:srgbClr val="A98D63"/>
      </a:accent6>
      <a:hlink>
        <a:srgbClr val="26CBEC"/>
      </a:hlink>
      <a:folHlink>
        <a:srgbClr val="598C8C"/>
      </a:folHlink>
    </a:clrScheme>
    <a:fontScheme name="복합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복합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5000"/>
                <a:satMod val="300000"/>
              </a:schemeClr>
            </a:gs>
            <a:gs pos="12000">
              <a:schemeClr val="phClr">
                <a:tint val="50000"/>
                <a:shade val="90000"/>
                <a:satMod val="250000"/>
              </a:schemeClr>
            </a:gs>
            <a:gs pos="100000">
              <a:schemeClr val="phClr">
                <a:tint val="85000"/>
                <a:shade val="7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75000"/>
                <a:shade val="95000"/>
                <a:satMod val="175000"/>
              </a:schemeClr>
            </a:gs>
            <a:gs pos="12000">
              <a:schemeClr val="phClr">
                <a:tint val="90000"/>
                <a:shade val="90000"/>
                <a:satMod val="150000"/>
              </a:schemeClr>
            </a:gs>
            <a:gs pos="100000">
              <a:schemeClr val="phClr">
                <a:tint val="100000"/>
                <a:shade val="75000"/>
                <a:satMod val="1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freezing" dir="t">
              <a:rot lat="0" lon="0" rev="6000000"/>
            </a:lightRig>
          </a:scene3d>
          <a:sp3d contourW="12700" prstMaterial="dkEdge">
            <a:bevelT w="44450" h="25400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10000"/>
                <a:lumMod val="80000"/>
              </a:schemeClr>
            </a:gs>
            <a:gs pos="79000">
              <a:schemeClr val="phClr">
                <a:tint val="100000"/>
                <a:shade val="90000"/>
                <a:satMod val="105000"/>
                <a:lumMod val="100000"/>
              </a:schemeClr>
            </a:gs>
            <a:gs pos="100000">
              <a:schemeClr val="phClr">
                <a:tint val="95000"/>
                <a:shade val="100000"/>
                <a:satMod val="110000"/>
                <a:lumMod val="11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hade val="100000"/>
                <a:satMod val="100000"/>
                <a:lumMod val="110000"/>
              </a:schemeClr>
            </a:gs>
            <a:gs pos="83000">
              <a:schemeClr val="phClr">
                <a:shade val="75000"/>
                <a:satMod val="200000"/>
              </a:schemeClr>
            </a:gs>
            <a:gs pos="100000">
              <a:schemeClr val="phClr">
                <a:shade val="90000"/>
                <a:satMod val="200000"/>
              </a:schemeClr>
            </a:gs>
          </a:gsLst>
          <a:path path="circle">
            <a:fillToRect l="75000" t="100000" b="3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Composite</Template>
  <TotalTime>67</TotalTime>
  <Words>333</Words>
  <Application>Microsoft Office PowerPoint</Application>
  <PresentationFormat>화면 슬라이드 쇼(4:3)</PresentationFormat>
  <Paragraphs>60</Paragraphs>
  <Slides>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8" baseType="lpstr">
      <vt:lpstr>복합</vt:lpstr>
      <vt:lpstr>애플리케이션 테스트   수행 평가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애플리케이션 테스트   수행 평가</dc:title>
  <dc:creator>KB</dc:creator>
  <cp:lastModifiedBy>KB</cp:lastModifiedBy>
  <cp:revision>11</cp:revision>
  <dcterms:created xsi:type="dcterms:W3CDTF">2021-03-24T01:24:45Z</dcterms:created>
  <dcterms:modified xsi:type="dcterms:W3CDTF">2021-03-24T02:32:36Z</dcterms:modified>
</cp:coreProperties>
</file>